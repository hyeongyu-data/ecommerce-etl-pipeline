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PG CSV·오픈마켓 HTTP API·GA4 보고서의 다른 구조를 주문 라인 단위로 통합합니다. 합성 데이터와 목업을 사용해 수집부터 DuckDB 적재까지 재현합니다.</a:t>
            </a:r>
          </a:p>
          <a:p>
            <a:r>
              <a:t>합성·목업 데이터의 기존 E2E 결과입니다. 적재 함수 직접 호출의 대상일 혼입·부분 입력·동시 실행은 추가 검증이 필요하며 합산 금액은 총매출이 아닙니다.</a:t>
            </a:r>
          </a:p>
          <a:p>
            <a:r>
              <a:t>출처: Ecommerce ETL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앞의 세 원천은 병렬 입력입니다. 실제 GA4 API 연결과 실제 거래 간 중복 제거는 별도 범위입니다.</a:t>
            </a:r>
          </a:p>
          <a:p>
            <a:r>
              <a:t>warehouse_orders_load는 별도 수동 실행 DAG입니다. BigQuery는 설계 목표로 남겨두었습니다.</a:t>
            </a:r>
          </a:p>
          <a:p>
            <a:r>
              <a:t>합성·목업 데이터의 기존 E2E 결과입니다. 적재 함수 직접 호출의 대상일 혼입·부분 입력·동시 실행은 추가 검증이 필요하며 합산 금액은 총매출이 아닙니다.</a:t>
            </a:r>
          </a:p>
          <a:p>
            <a:r>
              <a:t>출처: Ecommerce ETL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합성·목업 데이터의 기존 E2E 결과입니다. 적재 함수 직접 호출의 대상일 혼입·부분 입력·동시 실행은 추가 검증이 필요하며 합산 금액은 총매출이 아닙니다.</a:t>
            </a:r>
          </a:p>
          <a:p>
            <a:r>
              <a:t>출처: Ecommerce ETL · 공개 코드 및 검증 기록 · 2026.09.15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Ecommerce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2026.09 · 개인 프로젝트 | 담당: 원천별 수집 · 스키마 매핑 · 품질 검사 · 로컬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84020"/>
            <a:ext cx="11216640" cy="493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400" b="1">
                <a:solidFill>
                  <a:srgbClr val="152F48"/>
                </a:solidFill>
                <a:latin typeface="Apple SD Gothic Neo"/>
              </a:defRPr>
            </a:pPr>
            <a:r>
              <a:t>서로 다른 주문 데이터를 같은 계약으로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858500" cy="666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PG CSV·오픈마켓 HTTP API·GA4 보고서의 다른 구조를 주문 라인 단위로 통합합니다. 합성 데이터와 목업을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680" b="0">
                <a:solidFill>
                  <a:srgbClr val="516878"/>
                </a:solidFill>
                <a:latin typeface="Apple SD Gothic Neo"/>
              </a:defRPr>
            </a:pPr>
            <a:r>
              <a:t>사용해 수집부터 DuckDB 적재까지 재현합니다.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원천별 수집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Airflow DAG 3개로 각 원천의 입력과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실패 지점을 나눕니다.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006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94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18컬럼 통합 계약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94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source 포함 키 · UTC 시각 · KST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기준일 · 정수 KRW를 사용합니다.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21380"/>
            <a:ext cx="3611880" cy="169926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9020"/>
            <a:ext cx="324612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087F83"/>
                </a:solidFill>
                <a:latin typeface="Apple SD Gothic Neo"/>
              </a:defRPr>
            </a:pPr>
            <a:r>
              <a:t>날짜별 재적재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00500"/>
            <a:ext cx="3246120" cy="5803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품질 검사 후 트랜잭션으로 대상 날짜를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516878"/>
                </a:solidFill>
                <a:latin typeface="Apple SD Gothic Neo"/>
              </a:defRPr>
            </a:pPr>
            <a:r>
              <a:t>교체합니다.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7680" y="5410200"/>
            <a:ext cx="11216640" cy="68580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" y="5524500"/>
            <a:ext cx="12954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1">
                <a:solidFill>
                  <a:srgbClr val="087F83"/>
                </a:solidFill>
                <a:latin typeface="Apple SD Gothic Neo"/>
              </a:defRPr>
            </a:pPr>
            <a:r>
              <a:t>기술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99" y="5585460"/>
            <a:ext cx="96012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152F48"/>
                </a:solidFill>
                <a:latin typeface="Apple SD Gothic Neo"/>
              </a:defRPr>
            </a:pPr>
            <a:r>
              <a:t>Python · Airflow · pandas · PyArrow / Parquet · DuckDB · Docker Compose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Ecommerce ETL · 공개 코드 및 검증 기록 · 2026.09.15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세 원천의 staging을 모아 날짜 단위로 적재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Ecommerce ETL | 구조와 설계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6306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원천별 수집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8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PG 주문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합성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20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996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오픈마켓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96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로컬 목업 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984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GA4 구매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84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목업 보고서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263140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7320" y="1988819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095499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공통 staging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4612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18컬럼 · 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565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앞의 세 원천은 병렬 입력입니다. 실제 GA4 API 연결과 실제 거래 간 중복 제거는 별도 범위입니다.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" y="3345180"/>
            <a:ext cx="11216640" cy="3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560" b="1">
                <a:solidFill>
                  <a:srgbClr val="087F83"/>
                </a:solidFill>
                <a:latin typeface="Apple SD Gothic Neo"/>
              </a:defRPr>
            </a:pPr>
            <a:r>
              <a:t>수동 통합 적재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원천 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세 소스 날짜별 파일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996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통합 품질 검사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96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필수값 · 키 · 날짜 · 금액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408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44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984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DuckDB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984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날짜 DELETE + INSERT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77639"/>
            <a:ext cx="228600" cy="3206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439" b="0">
                <a:solidFill>
                  <a:srgbClr val="087F83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7320" y="3703320"/>
            <a:ext cx="2628900" cy="85344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3810000"/>
            <a:ext cx="233934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분석 화면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5760"/>
            <a:ext cx="233934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서비스 연동은 후속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71060"/>
            <a:ext cx="11125200" cy="288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516878"/>
                </a:solidFill>
                <a:latin typeface="Apple SD Gothic Neo"/>
              </a:defRPr>
            </a:pPr>
            <a:r>
              <a:t>warehouse_orders_load는 별도 수동 실행 DAG입니다. BigQuery는 설계 목표로 남겨두었습니다.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Q1–Q3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84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필수값 · 라인 키 중복 · 수량·금액 범위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006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722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Q4–Q7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722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금액 산식 · KST 날짜 · source · 미래 시각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227320"/>
            <a:ext cx="3611880" cy="96012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326380"/>
            <a:ext cx="333756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리뷰·재현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623560"/>
            <a:ext cx="33147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이슈·계획·Draft PR·리뷰·머지 / venv·Docker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Ecommerce ETL · 공개 코드 및 검증 기록 · 2026.09.15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7680" y="327660"/>
            <a:ext cx="3429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3840"/>
            <a:ext cx="6858000" cy="255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080" b="0">
                <a:solidFill>
                  <a:srgbClr val="516878"/>
                </a:solidFill>
                <a:latin typeface="Apple SD Gothic Neo"/>
              </a:defRPr>
            </a:pPr>
            <a:r>
              <a:t>최현규 / 프로젝트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617220"/>
            <a:ext cx="11216640" cy="547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700" b="1">
                <a:solidFill>
                  <a:srgbClr val="152F48"/>
                </a:solidFill>
                <a:latin typeface="Apple SD Gothic Neo"/>
              </a:defRPr>
            </a:pPr>
            <a:r>
              <a:t>수집·품질·적재의 검증 범위를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27760"/>
            <a:ext cx="11125200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0">
                <a:solidFill>
                  <a:srgbClr val="516878"/>
                </a:solidFill>
                <a:latin typeface="Apple SD Gothic Neo"/>
              </a:defRPr>
            </a:pPr>
            <a:r>
              <a:t>Ecommerce ETL | 발표용 운영 화면 · 실시간 연동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68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3개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원천별 수집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20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18개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20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통합 주문 컬럼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4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152행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기존 E2E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7320" y="1638300"/>
            <a:ext cx="2667000" cy="1013460"/>
          </a:xfrm>
          <a:prstGeom prst="roundRect">
            <a:avLst>
              <a:gd name="adj" fmla="val 6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4960" y="1767840"/>
            <a:ext cx="2324100" cy="4829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2340" b="1">
                <a:solidFill>
                  <a:srgbClr val="087F83"/>
                </a:solidFill>
                <a:latin typeface="Apple SD Gothic Neo"/>
              </a:defRPr>
            </a:pPr>
            <a:r>
              <a:t>0건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4960" y="2286000"/>
            <a:ext cx="2324100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기존 재실행 중복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680" y="2880360"/>
            <a:ext cx="411480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560" y="3032760"/>
            <a:ext cx="37566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처리 상태를 읽는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9758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수집 DAG 3개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5666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PG 46행 · 오픈마켓 45행 · GA4 61행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6699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통합 DAG 1개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3578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152행 · 2회 실행 · 다른 날짜 1개 보존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55820"/>
            <a:ext cx="3733799" cy="299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20" b="1">
                <a:solidFill>
                  <a:srgbClr val="087F83"/>
                </a:solidFill>
                <a:latin typeface="Apple SD Gothic Neo"/>
              </a:defRPr>
            </a:pPr>
            <a:r>
              <a:t>Q1–Q7 검사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14900"/>
            <a:ext cx="3733799" cy="277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00" b="0">
                <a:solidFill>
                  <a:srgbClr val="516878"/>
                </a:solidFill>
                <a:latin typeface="Apple SD Gothic Neo"/>
              </a:defRPr>
            </a:pPr>
            <a:r>
              <a:t>위반률 0.00% / 임계 1% · 원본 기록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5360" y="2880360"/>
            <a:ext cx="6918960" cy="2430780"/>
          </a:xfrm>
          <a:prstGeom prst="roundRect">
            <a:avLst>
              <a:gd name="adj" fmla="val 6000"/>
            </a:avLst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240" y="3032760"/>
            <a:ext cx="6537960" cy="353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620" b="1">
                <a:solidFill>
                  <a:srgbClr val="152F48"/>
                </a:solidFill>
                <a:latin typeface="Apple SD Gothic Neo"/>
              </a:defRPr>
            </a:pPr>
            <a:r>
              <a:t>결과 · 근거 · 운영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8240" y="351282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기존 Docker E2E 대상일: 2026-09-01 · 실시간 아님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240" y="392430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09.15 pytest: 91 통과·1 스킵 (Airflow 미설치)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8240" y="433578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재실행 검증은 정상 입력 기준 · 날짜 교체 경계 존재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240" y="4747260"/>
            <a:ext cx="6515100" cy="3098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380" b="0">
                <a:solidFill>
                  <a:srgbClr val="516878"/>
                </a:solidFill>
                <a:latin typeface="Apple SD Gothic Neo"/>
              </a:defRPr>
            </a:pPr>
            <a:r>
              <a:t>· BigQuery·GA4 실연결·서비스 분석 화면은 후속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80" y="5532120"/>
            <a:ext cx="11216640" cy="716280"/>
          </a:xfrm>
          <a:prstGeom prst="roundRect">
            <a:avLst>
              <a:gd name="adj" fmla="val 6000"/>
            </a:avLst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638800"/>
            <a:ext cx="10896600" cy="5154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합성·목업 데이터의 기존 E2E 결과입니다. 적재 함수 직접 호출의 대상일 혼입·부분 입력·동시 실행은 추가 검증이 필요하며 합산 금액은 총매출이</a:t>
            </a:r>
          </a:p>
          <a:p>
            <a:pPr>
              <a:lnSpc>
                <a:spcPct val="142000"/>
              </a:lnSpc>
              <a:spcAft>
                <a:spcPts val="0"/>
              </a:spcAft>
              <a:defRPr sz="1260" b="0">
                <a:solidFill>
                  <a:srgbClr val="775E35"/>
                </a:solidFill>
                <a:latin typeface="Apple SD Gothic Neo"/>
              </a:defRPr>
            </a:pPr>
            <a:r>
              <a:t>아닙니다.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80" y="6438900"/>
            <a:ext cx="11216640" cy="7620"/>
          </a:xfrm>
          <a:prstGeom prst="rect">
            <a:avLst/>
          </a:prstGeom>
          <a:solidFill>
            <a:srgbClr val="D9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680" y="6560820"/>
            <a:ext cx="103632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0">
                <a:solidFill>
                  <a:srgbClr val="516878"/>
                </a:solidFill>
                <a:latin typeface="Apple SD Gothic Neo"/>
              </a:defRPr>
            </a:pPr>
            <a:r>
              <a:t>Ecommerce ETL · 공개 코드 및 검증 기록 · 2026.09.15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0" y="6560820"/>
            <a:ext cx="685800" cy="2124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0"/>
              </a:spcAft>
              <a:defRPr sz="840" b="1">
                <a:solidFill>
                  <a:srgbClr val="087F83"/>
                </a:solidFill>
                <a:latin typeface="Apple SD Gothic Neo"/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